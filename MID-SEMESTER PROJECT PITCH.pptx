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grandir Wide Bold" charset="1" panose="00000805000000000000"/>
      <p:regular r:id="rId18"/>
    </p:embeddedFont>
    <p:embeddedFont>
      <p:font typeface="Nunito" charset="1" panose="00000000000000000000"/>
      <p:regular r:id="rId19"/>
    </p:embeddedFont>
    <p:embeddedFont>
      <p:font typeface="Nunito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4055" y="-1450546"/>
            <a:ext cx="21789375" cy="12256523"/>
          </a:xfrm>
          <a:custGeom>
            <a:avLst/>
            <a:gdLst/>
            <a:ahLst/>
            <a:cxnLst/>
            <a:rect r="r" b="b" t="t" l="l"/>
            <a:pathLst>
              <a:path h="12256523" w="21789375">
                <a:moveTo>
                  <a:pt x="0" y="0"/>
                </a:moveTo>
                <a:lnTo>
                  <a:pt x="21789375" y="0"/>
                </a:lnTo>
                <a:lnTo>
                  <a:pt x="21789375" y="12256524"/>
                </a:lnTo>
                <a:lnTo>
                  <a:pt x="0" y="1225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35739" y="8333615"/>
            <a:ext cx="7264894" cy="838151"/>
            <a:chOff x="0" y="0"/>
            <a:chExt cx="1913388" cy="220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3388" cy="220747"/>
            </a:xfrm>
            <a:custGeom>
              <a:avLst/>
              <a:gdLst/>
              <a:ahLst/>
              <a:cxnLst/>
              <a:rect r="r" b="b" t="t" l="l"/>
              <a:pathLst>
                <a:path h="220747" w="1913388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55262" y="1634337"/>
            <a:ext cx="7018326" cy="7018326"/>
          </a:xfrm>
          <a:custGeom>
            <a:avLst/>
            <a:gdLst/>
            <a:ahLst/>
            <a:cxnLst/>
            <a:rect r="r" b="b" t="t" l="l"/>
            <a:pathLst>
              <a:path h="7018326" w="7018326">
                <a:moveTo>
                  <a:pt x="0" y="0"/>
                </a:moveTo>
                <a:lnTo>
                  <a:pt x="7018326" y="0"/>
                </a:lnTo>
                <a:lnTo>
                  <a:pt x="7018326" y="7018326"/>
                </a:lnTo>
                <a:lnTo>
                  <a:pt x="0" y="7018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7193" y="998902"/>
            <a:ext cx="19130948" cy="1990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8"/>
              </a:lnSpc>
            </a:pPr>
            <a:r>
              <a:rPr lang="en-US" sz="62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SIMPLE 3D: MID-SEMESTER</a:t>
            </a:r>
          </a:p>
          <a:p>
            <a:pPr algn="l">
              <a:lnSpc>
                <a:spcPts val="7118"/>
              </a:lnSpc>
            </a:pPr>
            <a:r>
              <a:rPr lang="en-US" sz="62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PROJECT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6440" y="8440457"/>
            <a:ext cx="6594356" cy="5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-Guided by Prof. Varsha Jadhav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3969" y="4365483"/>
            <a:ext cx="6594356" cy="284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Team: </a:t>
            </a:r>
          </a:p>
          <a:p>
            <a:pPr algn="l" marL="697507" indent="-348753" lvl="1">
              <a:lnSpc>
                <a:spcPts val="4522"/>
              </a:lnSpc>
              <a:buAutoNum type="arabicPeriod" startAt="1"/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Sahil</a:t>
            </a:r>
          </a:p>
          <a:p>
            <a:pPr algn="l" marL="697507" indent="-348753" lvl="1">
              <a:lnSpc>
                <a:spcPts val="4522"/>
              </a:lnSpc>
              <a:buAutoNum type="arabicPeriod" startAt="1"/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Samarth</a:t>
            </a:r>
          </a:p>
          <a:p>
            <a:pPr algn="l" marL="697507" indent="-348753" lvl="1">
              <a:lnSpc>
                <a:spcPts val="4522"/>
              </a:lnSpc>
              <a:buAutoNum type="arabicPeriod" startAt="1"/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Shubham</a:t>
            </a:r>
          </a:p>
          <a:p>
            <a:pPr algn="l" marL="697507" indent="-348753" lvl="1">
              <a:lnSpc>
                <a:spcPts val="4522"/>
              </a:lnSpc>
              <a:buAutoNum type="arabicPeriod" startAt="1"/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Pranjali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3969" y="3494096"/>
            <a:ext cx="6594356" cy="5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Group 17.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78466" y="-1450546"/>
            <a:ext cx="7216854" cy="12256523"/>
          </a:xfrm>
          <a:custGeom>
            <a:avLst/>
            <a:gdLst/>
            <a:ahLst/>
            <a:cxnLst/>
            <a:rect r="r" b="b" t="t" l="l"/>
            <a:pathLst>
              <a:path h="12256523" w="7216854">
                <a:moveTo>
                  <a:pt x="0" y="0"/>
                </a:moveTo>
                <a:lnTo>
                  <a:pt x="7216854" y="0"/>
                </a:lnTo>
                <a:lnTo>
                  <a:pt x="7216854" y="12256524"/>
                </a:lnTo>
                <a:lnTo>
                  <a:pt x="0" y="1225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-201923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4611" y="4871339"/>
            <a:ext cx="3086100" cy="4248238"/>
            <a:chOff x="0" y="0"/>
            <a:chExt cx="635000" cy="874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" cy="874123"/>
            </a:xfrm>
            <a:custGeom>
              <a:avLst/>
              <a:gdLst/>
              <a:ahLst/>
              <a:cxnLst/>
              <a:rect r="r" b="b" t="t" l="l"/>
              <a:pathLst>
                <a:path h="874123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825126"/>
                  </a:lnTo>
                  <a:cubicBezTo>
                    <a:pt x="635000" y="852186"/>
                    <a:pt x="613063" y="874123"/>
                    <a:pt x="586003" y="874123"/>
                  </a:cubicBezTo>
                  <a:lnTo>
                    <a:pt x="48997" y="874123"/>
                  </a:lnTo>
                  <a:cubicBezTo>
                    <a:pt x="36002" y="874123"/>
                    <a:pt x="23540" y="868961"/>
                    <a:pt x="14351" y="859772"/>
                  </a:cubicBezTo>
                  <a:cubicBezTo>
                    <a:pt x="5162" y="850583"/>
                    <a:pt x="0" y="838121"/>
                    <a:pt x="0" y="825126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323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635000" cy="969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06366" y="4185539"/>
            <a:ext cx="3086100" cy="5498462"/>
            <a:chOff x="0" y="0"/>
            <a:chExt cx="635000" cy="11313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1131371"/>
            </a:xfrm>
            <a:custGeom>
              <a:avLst/>
              <a:gdLst/>
              <a:ahLst/>
              <a:cxnLst/>
              <a:rect r="r" b="b" t="t" l="l"/>
              <a:pathLst>
                <a:path h="1131371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1082374"/>
                  </a:lnTo>
                  <a:cubicBezTo>
                    <a:pt x="635000" y="1095369"/>
                    <a:pt x="629838" y="1107831"/>
                    <a:pt x="620649" y="1117020"/>
                  </a:cubicBezTo>
                  <a:cubicBezTo>
                    <a:pt x="611460" y="1126209"/>
                    <a:pt x="598998" y="1131371"/>
                    <a:pt x="586003" y="1131371"/>
                  </a:cubicBezTo>
                  <a:lnTo>
                    <a:pt x="48997" y="1131371"/>
                  </a:lnTo>
                  <a:cubicBezTo>
                    <a:pt x="36002" y="1131371"/>
                    <a:pt x="23540" y="1126209"/>
                    <a:pt x="14351" y="1117020"/>
                  </a:cubicBezTo>
                  <a:cubicBezTo>
                    <a:pt x="5162" y="1107831"/>
                    <a:pt x="0" y="1095369"/>
                    <a:pt x="0" y="1082374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4ED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635000" cy="1226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935823" y="4185539"/>
            <a:ext cx="3086100" cy="5498462"/>
            <a:chOff x="0" y="0"/>
            <a:chExt cx="635000" cy="11313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1131371"/>
            </a:xfrm>
            <a:custGeom>
              <a:avLst/>
              <a:gdLst/>
              <a:ahLst/>
              <a:cxnLst/>
              <a:rect r="r" b="b" t="t" l="l"/>
              <a:pathLst>
                <a:path h="1131371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1082374"/>
                  </a:lnTo>
                  <a:cubicBezTo>
                    <a:pt x="635000" y="1095369"/>
                    <a:pt x="629838" y="1107831"/>
                    <a:pt x="620649" y="1117020"/>
                  </a:cubicBezTo>
                  <a:cubicBezTo>
                    <a:pt x="611460" y="1126209"/>
                    <a:pt x="598998" y="1131371"/>
                    <a:pt x="586003" y="1131371"/>
                  </a:cubicBezTo>
                  <a:lnTo>
                    <a:pt x="48997" y="1131371"/>
                  </a:lnTo>
                  <a:cubicBezTo>
                    <a:pt x="36002" y="1131371"/>
                    <a:pt x="23540" y="1126209"/>
                    <a:pt x="14351" y="1117020"/>
                  </a:cubicBezTo>
                  <a:cubicBezTo>
                    <a:pt x="5162" y="1107831"/>
                    <a:pt x="0" y="1095369"/>
                    <a:pt x="0" y="1082374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4ED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635000" cy="1226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8520" y="134124"/>
            <a:ext cx="6815478" cy="9823795"/>
          </a:xfrm>
          <a:custGeom>
            <a:avLst/>
            <a:gdLst/>
            <a:ahLst/>
            <a:cxnLst/>
            <a:rect r="r" b="b" t="t" l="l"/>
            <a:pathLst>
              <a:path h="9823795" w="6815478">
                <a:moveTo>
                  <a:pt x="0" y="0"/>
                </a:moveTo>
                <a:lnTo>
                  <a:pt x="6815478" y="0"/>
                </a:lnTo>
                <a:lnTo>
                  <a:pt x="6815478" y="9823795"/>
                </a:lnTo>
                <a:lnTo>
                  <a:pt x="0" y="982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10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187205" y="2115989"/>
            <a:ext cx="12027822" cy="169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SIMPLE 3D: HIGH-END 3D, MADE SIMPLE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16628" y="5034605"/>
            <a:ext cx="28473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Wha</a:t>
            </a:r>
            <a:r>
              <a:rPr lang="en-US" b="true" sz="300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t is Simple 3D?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25721" y="4318889"/>
            <a:ext cx="28473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Core</a:t>
            </a: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Objective: POC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55178" y="4318889"/>
            <a:ext cx="28473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Eng</a:t>
            </a: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ineering Feat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1666" y="6330005"/>
            <a:ext cx="2722065" cy="242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248"/>
              </a:lnSpc>
              <a:buFont typeface="Arial"/>
              <a:buChar char="•"/>
            </a:pPr>
            <a:r>
              <a:rPr lang="en-US" sz="1899" spc="104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Zero-install, browser-based 3D workspace</a:t>
            </a:r>
          </a:p>
          <a:p>
            <a:pPr algn="l" marL="410209" indent="-205105" lvl="1">
              <a:lnSpc>
                <a:spcPts val="3248"/>
              </a:lnSpc>
              <a:buFont typeface="Arial"/>
              <a:buChar char="•"/>
            </a:pPr>
            <a:r>
              <a:rPr lang="en-US" sz="1899" spc="104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Designed for easy and accessible 3D creation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64559" y="5578558"/>
            <a:ext cx="3156439" cy="406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248"/>
              </a:lnSpc>
              <a:buFont typeface="Arial"/>
              <a:buChar char="•"/>
            </a:pPr>
            <a:r>
              <a:rPr lang="en-US" sz="1899" spc="10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r>
              <a:rPr lang="en-US" sz="1899" spc="10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rove high-fidelity 3D rendering in the browser</a:t>
            </a:r>
          </a:p>
          <a:p>
            <a:pPr algn="l" marL="410209" indent="-205105" lvl="1">
              <a:lnSpc>
                <a:spcPts val="3248"/>
              </a:lnSpc>
              <a:buFont typeface="Arial"/>
              <a:buChar char="•"/>
            </a:pPr>
            <a:r>
              <a:rPr lang="en-US" sz="1899" spc="10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Combine professional visuals with beginner-friendly controls</a:t>
            </a:r>
          </a:p>
          <a:p>
            <a:pPr algn="l" marL="410209" indent="-205105" lvl="1">
              <a:lnSpc>
                <a:spcPts val="3248"/>
              </a:lnSpc>
              <a:buFont typeface="Arial"/>
              <a:buChar char="•"/>
            </a:pPr>
            <a:r>
              <a:rPr lang="en-US" sz="1899" spc="10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Target: Blender/Nomad-level fidelity + Tinkercad-level ease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3154" y="5578558"/>
            <a:ext cx="2956752" cy="324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248"/>
              </a:lnSpc>
              <a:buFont typeface="Arial"/>
              <a:buChar char="•"/>
            </a:pPr>
            <a:r>
              <a:rPr lang="en-US" sz="1899" spc="10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1899" spc="10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eal-time, client-side rendering</a:t>
            </a:r>
          </a:p>
          <a:p>
            <a:pPr algn="l" marL="410209" indent="-205105" lvl="1">
              <a:lnSpc>
                <a:spcPts val="3248"/>
              </a:lnSpc>
              <a:buFont typeface="Arial"/>
              <a:buChar char="•"/>
            </a:pPr>
            <a:r>
              <a:rPr lang="en-US" sz="1899" spc="10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Stable and performant web-based 3D engine</a:t>
            </a:r>
          </a:p>
          <a:p>
            <a:pPr algn="l" marL="410209" indent="-205105" lvl="1">
              <a:lnSpc>
                <a:spcPts val="3248"/>
              </a:lnSpc>
              <a:buFont typeface="Arial"/>
              <a:buChar char="•"/>
            </a:pPr>
            <a:r>
              <a:rPr lang="en-US" sz="1899" spc="10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Professional-grade graphics without installation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619719" y="-1786016"/>
            <a:ext cx="4578876" cy="12299750"/>
          </a:xfrm>
          <a:custGeom>
            <a:avLst/>
            <a:gdLst/>
            <a:ahLst/>
            <a:cxnLst/>
            <a:rect r="r" b="b" t="t" l="l"/>
            <a:pathLst>
              <a:path h="12299750" w="4578876">
                <a:moveTo>
                  <a:pt x="4578876" y="0"/>
                </a:moveTo>
                <a:lnTo>
                  <a:pt x="0" y="0"/>
                </a:lnTo>
                <a:lnTo>
                  <a:pt x="0" y="12299750"/>
                </a:lnTo>
                <a:lnTo>
                  <a:pt x="4578876" y="12299750"/>
                </a:lnTo>
                <a:lnTo>
                  <a:pt x="4578876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-377545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6444" y="-1493772"/>
            <a:ext cx="4578876" cy="12299750"/>
          </a:xfrm>
          <a:custGeom>
            <a:avLst/>
            <a:gdLst/>
            <a:ahLst/>
            <a:cxnLst/>
            <a:rect r="r" b="b" t="t" l="l"/>
            <a:pathLst>
              <a:path h="12299750" w="4578876">
                <a:moveTo>
                  <a:pt x="0" y="0"/>
                </a:moveTo>
                <a:lnTo>
                  <a:pt x="4578876" y="0"/>
                </a:lnTo>
                <a:lnTo>
                  <a:pt x="4578876" y="12299750"/>
                </a:lnTo>
                <a:lnTo>
                  <a:pt x="0" y="1229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-377545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34127" y="1028700"/>
            <a:ext cx="13644468" cy="9096312"/>
          </a:xfrm>
          <a:custGeom>
            <a:avLst/>
            <a:gdLst/>
            <a:ahLst/>
            <a:cxnLst/>
            <a:rect r="r" b="b" t="t" l="l"/>
            <a:pathLst>
              <a:path h="9096312" w="13644468">
                <a:moveTo>
                  <a:pt x="0" y="0"/>
                </a:moveTo>
                <a:lnTo>
                  <a:pt x="13644468" y="0"/>
                </a:lnTo>
                <a:lnTo>
                  <a:pt x="13644468" y="9096312"/>
                </a:lnTo>
                <a:lnTo>
                  <a:pt x="0" y="9096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8620" y="394949"/>
            <a:ext cx="17115482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 PROBLEM: A GAP IN 3D CREATION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2912">
            <a:off x="15082669" y="-409880"/>
            <a:ext cx="3170238" cy="4572136"/>
          </a:xfrm>
          <a:custGeom>
            <a:avLst/>
            <a:gdLst/>
            <a:ahLst/>
            <a:cxnLst/>
            <a:rect r="r" b="b" t="t" l="l"/>
            <a:pathLst>
              <a:path h="4572136" w="3170238">
                <a:moveTo>
                  <a:pt x="0" y="0"/>
                </a:moveTo>
                <a:lnTo>
                  <a:pt x="3170239" y="0"/>
                </a:lnTo>
                <a:lnTo>
                  <a:pt x="3170239" y="4572136"/>
                </a:lnTo>
                <a:lnTo>
                  <a:pt x="0" y="4572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-481074" t="-127679" r="-34696" b="-124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8241" y="2486793"/>
            <a:ext cx="6537469" cy="3962402"/>
            <a:chOff x="0" y="0"/>
            <a:chExt cx="1523229" cy="9232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3229" cy="923239"/>
            </a:xfrm>
            <a:custGeom>
              <a:avLst/>
              <a:gdLst/>
              <a:ahLst/>
              <a:cxnLst/>
              <a:rect r="r" b="b" t="t" l="l"/>
              <a:pathLst>
                <a:path h="923239" w="1523229">
                  <a:moveTo>
                    <a:pt x="23130" y="0"/>
                  </a:moveTo>
                  <a:lnTo>
                    <a:pt x="1500100" y="0"/>
                  </a:lnTo>
                  <a:cubicBezTo>
                    <a:pt x="1506234" y="0"/>
                    <a:pt x="1512117" y="2437"/>
                    <a:pt x="1516455" y="6775"/>
                  </a:cubicBezTo>
                  <a:cubicBezTo>
                    <a:pt x="1520792" y="11112"/>
                    <a:pt x="1523229" y="16995"/>
                    <a:pt x="1523229" y="23130"/>
                  </a:cubicBezTo>
                  <a:lnTo>
                    <a:pt x="1523229" y="900109"/>
                  </a:lnTo>
                  <a:cubicBezTo>
                    <a:pt x="1523229" y="906244"/>
                    <a:pt x="1520792" y="912127"/>
                    <a:pt x="1516455" y="916465"/>
                  </a:cubicBezTo>
                  <a:cubicBezTo>
                    <a:pt x="1512117" y="920802"/>
                    <a:pt x="1506234" y="923239"/>
                    <a:pt x="1500100" y="923239"/>
                  </a:cubicBezTo>
                  <a:lnTo>
                    <a:pt x="23130" y="923239"/>
                  </a:lnTo>
                  <a:cubicBezTo>
                    <a:pt x="10355" y="923239"/>
                    <a:pt x="0" y="912884"/>
                    <a:pt x="0" y="900109"/>
                  </a:cubicBezTo>
                  <a:lnTo>
                    <a:pt x="0" y="23130"/>
                  </a:lnTo>
                  <a:cubicBezTo>
                    <a:pt x="0" y="16995"/>
                    <a:pt x="2437" y="11112"/>
                    <a:pt x="6775" y="6775"/>
                  </a:cubicBezTo>
                  <a:cubicBezTo>
                    <a:pt x="11112" y="2437"/>
                    <a:pt x="16995" y="0"/>
                    <a:pt x="23130" y="0"/>
                  </a:cubicBezTo>
                  <a:close/>
                </a:path>
              </a:pathLst>
            </a:custGeom>
            <a:solidFill>
              <a:srgbClr val="F9DEB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523229" cy="1018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18329" y="2506351"/>
            <a:ext cx="8244366" cy="707794"/>
            <a:chOff x="0" y="0"/>
            <a:chExt cx="2171356" cy="1864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1356" cy="186415"/>
            </a:xfrm>
            <a:custGeom>
              <a:avLst/>
              <a:gdLst/>
              <a:ahLst/>
              <a:cxnLst/>
              <a:rect r="r" b="b" t="t" l="l"/>
              <a:pathLst>
                <a:path h="186415" w="2171356">
                  <a:moveTo>
                    <a:pt x="93207" y="0"/>
                  </a:moveTo>
                  <a:lnTo>
                    <a:pt x="2078148" y="0"/>
                  </a:lnTo>
                  <a:cubicBezTo>
                    <a:pt x="2129625" y="0"/>
                    <a:pt x="2171356" y="41730"/>
                    <a:pt x="2171356" y="93207"/>
                  </a:cubicBezTo>
                  <a:lnTo>
                    <a:pt x="2171356" y="93207"/>
                  </a:lnTo>
                  <a:cubicBezTo>
                    <a:pt x="2171356" y="144684"/>
                    <a:pt x="2129625" y="186415"/>
                    <a:pt x="2078148" y="186415"/>
                  </a:cubicBezTo>
                  <a:lnTo>
                    <a:pt x="93207" y="186415"/>
                  </a:lnTo>
                  <a:cubicBezTo>
                    <a:pt x="41730" y="186415"/>
                    <a:pt x="0" y="144684"/>
                    <a:pt x="0" y="93207"/>
                  </a:cubicBezTo>
                  <a:lnTo>
                    <a:pt x="0" y="93207"/>
                  </a:lnTo>
                  <a:cubicBezTo>
                    <a:pt x="0" y="41730"/>
                    <a:pt x="41730" y="0"/>
                    <a:pt x="93207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171356" cy="281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488864" y="3357562"/>
            <a:ext cx="3470792" cy="3192050"/>
          </a:xfrm>
          <a:custGeom>
            <a:avLst/>
            <a:gdLst/>
            <a:ahLst/>
            <a:cxnLst/>
            <a:rect r="r" b="b" t="t" l="l"/>
            <a:pathLst>
              <a:path h="3192050" w="3470792">
                <a:moveTo>
                  <a:pt x="0" y="0"/>
                </a:moveTo>
                <a:lnTo>
                  <a:pt x="3470792" y="0"/>
                </a:lnTo>
                <a:lnTo>
                  <a:pt x="3470792" y="3192050"/>
                </a:lnTo>
                <a:lnTo>
                  <a:pt x="0" y="3192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07331" y="4190880"/>
            <a:ext cx="5267539" cy="5479370"/>
          </a:xfrm>
          <a:custGeom>
            <a:avLst/>
            <a:gdLst/>
            <a:ahLst/>
            <a:cxnLst/>
            <a:rect r="r" b="b" t="t" l="l"/>
            <a:pathLst>
              <a:path h="5479370" w="5267539">
                <a:moveTo>
                  <a:pt x="0" y="0"/>
                </a:moveTo>
                <a:lnTo>
                  <a:pt x="5267539" y="0"/>
                </a:lnTo>
                <a:lnTo>
                  <a:pt x="5267539" y="5479371"/>
                </a:lnTo>
                <a:lnTo>
                  <a:pt x="0" y="54793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8241" y="6710868"/>
            <a:ext cx="3932595" cy="3277163"/>
          </a:xfrm>
          <a:custGeom>
            <a:avLst/>
            <a:gdLst/>
            <a:ahLst/>
            <a:cxnLst/>
            <a:rect r="r" b="b" t="t" l="l"/>
            <a:pathLst>
              <a:path h="3277163" w="3932595">
                <a:moveTo>
                  <a:pt x="0" y="0"/>
                </a:moveTo>
                <a:lnTo>
                  <a:pt x="3932595" y="0"/>
                </a:lnTo>
                <a:lnTo>
                  <a:pt x="3932595" y="3277163"/>
                </a:lnTo>
                <a:lnTo>
                  <a:pt x="0" y="3277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1960" y="6802361"/>
            <a:ext cx="5424248" cy="3185669"/>
          </a:xfrm>
          <a:custGeom>
            <a:avLst/>
            <a:gdLst/>
            <a:ahLst/>
            <a:cxnLst/>
            <a:rect r="r" b="b" t="t" l="l"/>
            <a:pathLst>
              <a:path h="3185669" w="5424248">
                <a:moveTo>
                  <a:pt x="0" y="0"/>
                </a:moveTo>
                <a:lnTo>
                  <a:pt x="5424247" y="0"/>
                </a:lnTo>
                <a:lnTo>
                  <a:pt x="5424247" y="3185670"/>
                </a:lnTo>
                <a:lnTo>
                  <a:pt x="0" y="3185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1979" y="394949"/>
            <a:ext cx="12027822" cy="169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VISUAL PROOF: HIGH-END 3D IN THE BROWSER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1980" y="2699795"/>
            <a:ext cx="53311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The Technical Leap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241" y="3252787"/>
            <a:ext cx="6692190" cy="281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761"/>
              </a:lnSpc>
              <a:buFont typeface="Arial"/>
              <a:buChar char="•"/>
            </a:pPr>
            <a:r>
              <a:rPr lang="en-US" sz="2199" spc="12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PBR mat</a:t>
            </a:r>
            <a:r>
              <a:rPr lang="en-US" sz="2199" spc="12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erials: </a:t>
            </a:r>
          </a:p>
          <a:p>
            <a:pPr algn="l" marL="474979" indent="-237490" lvl="1">
              <a:lnSpc>
                <a:spcPts val="3761"/>
              </a:lnSpc>
              <a:buFont typeface="Arial"/>
              <a:buChar char="•"/>
            </a:pPr>
            <a:r>
              <a:rPr lang="en-US" sz="2199" spc="12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Metalness • Roughness • Clearcoat</a:t>
            </a:r>
          </a:p>
          <a:p>
            <a:pPr algn="l">
              <a:lnSpc>
                <a:spcPts val="3761"/>
              </a:lnSpc>
            </a:pPr>
            <a:r>
              <a:rPr lang="en-US" sz="2199" spc="12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• Transmission</a:t>
            </a:r>
          </a:p>
          <a:p>
            <a:pPr algn="l" marL="474979" indent="-237490" lvl="1">
              <a:lnSpc>
                <a:spcPts val="3761"/>
              </a:lnSpc>
              <a:buFont typeface="Arial"/>
              <a:buChar char="•"/>
            </a:pPr>
            <a:r>
              <a:rPr lang="en-US" sz="2199" spc="12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Real-time reflections &amp; lighting</a:t>
            </a:r>
          </a:p>
          <a:p>
            <a:pPr algn="l" marL="474979" indent="-237490" lvl="1">
              <a:lnSpc>
                <a:spcPts val="3761"/>
              </a:lnSpc>
              <a:buFont typeface="Arial"/>
              <a:buChar char="•"/>
            </a:pPr>
            <a:r>
              <a:rPr lang="en-US" sz="2199" spc="12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Lighting separated from the background</a:t>
            </a:r>
          </a:p>
          <a:p>
            <a:pPr algn="l" marL="474979" indent="-237490" lvl="1">
              <a:lnSpc>
                <a:spcPts val="3761"/>
              </a:lnSpc>
              <a:buFont typeface="Arial"/>
              <a:buChar char="•"/>
            </a:pPr>
            <a:r>
              <a:rPr lang="en-US" sz="2199" spc="12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Runs directly in the web browser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20431" y="2622210"/>
            <a:ext cx="908024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High-fidelity studio-quality visuals: instantly, client-side.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604458" y="0"/>
            <a:ext cx="12683542" cy="5683915"/>
          </a:xfrm>
          <a:custGeom>
            <a:avLst/>
            <a:gdLst/>
            <a:ahLst/>
            <a:cxnLst/>
            <a:rect r="r" b="b" t="t" l="l"/>
            <a:pathLst>
              <a:path h="5683915" w="12683542">
                <a:moveTo>
                  <a:pt x="0" y="0"/>
                </a:moveTo>
                <a:lnTo>
                  <a:pt x="12683542" y="0"/>
                </a:lnTo>
                <a:lnTo>
                  <a:pt x="12683542" y="5683915"/>
                </a:lnTo>
                <a:lnTo>
                  <a:pt x="0" y="568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-100314" r="-68340" b="-1098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28110" y="5143500"/>
            <a:ext cx="12683542" cy="5683915"/>
          </a:xfrm>
          <a:custGeom>
            <a:avLst/>
            <a:gdLst/>
            <a:ahLst/>
            <a:cxnLst/>
            <a:rect r="r" b="b" t="t" l="l"/>
            <a:pathLst>
              <a:path h="5683915" w="12683542">
                <a:moveTo>
                  <a:pt x="0" y="0"/>
                </a:moveTo>
                <a:lnTo>
                  <a:pt x="12683542" y="0"/>
                </a:lnTo>
                <a:lnTo>
                  <a:pt x="12683542" y="5683915"/>
                </a:lnTo>
                <a:lnTo>
                  <a:pt x="0" y="568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-100314" r="-68340" b="-1098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875114" y="1622819"/>
            <a:ext cx="3086100" cy="2062369"/>
            <a:chOff x="0" y="0"/>
            <a:chExt cx="812800" cy="543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43175"/>
            </a:xfrm>
            <a:custGeom>
              <a:avLst/>
              <a:gdLst/>
              <a:ahLst/>
              <a:cxnLst/>
              <a:rect r="r" b="b" t="t" l="l"/>
              <a:pathLst>
                <a:path h="543175" w="812800">
                  <a:moveTo>
                    <a:pt x="812800" y="27158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39975"/>
                  </a:lnTo>
                  <a:lnTo>
                    <a:pt x="406400" y="339975"/>
                  </a:lnTo>
                  <a:lnTo>
                    <a:pt x="406400" y="543175"/>
                  </a:lnTo>
                  <a:lnTo>
                    <a:pt x="812800" y="271588"/>
                  </a:lnTo>
                  <a:close/>
                </a:path>
              </a:pathLst>
            </a:custGeom>
            <a:solidFill>
              <a:srgbClr val="323E9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7950"/>
              <a:ext cx="711200" cy="23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75114" y="7727527"/>
            <a:ext cx="3086100" cy="2062369"/>
            <a:chOff x="0" y="0"/>
            <a:chExt cx="812800" cy="5431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43175"/>
            </a:xfrm>
            <a:custGeom>
              <a:avLst/>
              <a:gdLst/>
              <a:ahLst/>
              <a:cxnLst/>
              <a:rect r="r" b="b" t="t" l="l"/>
              <a:pathLst>
                <a:path h="543175" w="812800">
                  <a:moveTo>
                    <a:pt x="812800" y="27158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39975"/>
                  </a:lnTo>
                  <a:lnTo>
                    <a:pt x="406400" y="339975"/>
                  </a:lnTo>
                  <a:lnTo>
                    <a:pt x="406400" y="543175"/>
                  </a:lnTo>
                  <a:lnTo>
                    <a:pt x="812800" y="271588"/>
                  </a:lnTo>
                  <a:close/>
                </a:path>
              </a:pathLst>
            </a:custGeom>
            <a:solidFill>
              <a:srgbClr val="323E9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07950"/>
              <a:ext cx="711200" cy="23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13374" y="1622819"/>
            <a:ext cx="8115300" cy="2360815"/>
          </a:xfrm>
          <a:custGeom>
            <a:avLst/>
            <a:gdLst/>
            <a:ahLst/>
            <a:cxnLst/>
            <a:rect r="r" b="b" t="t" l="l"/>
            <a:pathLst>
              <a:path h="2360815" w="8115300">
                <a:moveTo>
                  <a:pt x="0" y="0"/>
                </a:moveTo>
                <a:lnTo>
                  <a:pt x="8115300" y="0"/>
                </a:lnTo>
                <a:lnTo>
                  <a:pt x="8115300" y="2360815"/>
                </a:lnTo>
                <a:lnTo>
                  <a:pt x="0" y="2360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600950" y="4549954"/>
            <a:ext cx="3086100" cy="2206023"/>
            <a:chOff x="0" y="0"/>
            <a:chExt cx="812800" cy="581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581010"/>
            </a:xfrm>
            <a:custGeom>
              <a:avLst/>
              <a:gdLst/>
              <a:ahLst/>
              <a:cxnLst/>
              <a:rect r="r" b="b" t="t" l="l"/>
              <a:pathLst>
                <a:path h="581010" w="812800">
                  <a:moveTo>
                    <a:pt x="0" y="290505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377810"/>
                  </a:lnTo>
                  <a:lnTo>
                    <a:pt x="406400" y="377810"/>
                  </a:lnTo>
                  <a:lnTo>
                    <a:pt x="406400" y="581010"/>
                  </a:lnTo>
                  <a:lnTo>
                    <a:pt x="0" y="290505"/>
                  </a:lnTo>
                  <a:close/>
                </a:path>
              </a:pathLst>
            </a:custGeom>
            <a:solidFill>
              <a:srgbClr val="323E9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107950"/>
              <a:ext cx="711200" cy="26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04747" y="4658650"/>
            <a:ext cx="2497568" cy="1988630"/>
          </a:xfrm>
          <a:custGeom>
            <a:avLst/>
            <a:gdLst/>
            <a:ahLst/>
            <a:cxnLst/>
            <a:rect r="r" b="b" t="t" l="l"/>
            <a:pathLst>
              <a:path h="1988630" w="2497568">
                <a:moveTo>
                  <a:pt x="0" y="0"/>
                </a:moveTo>
                <a:lnTo>
                  <a:pt x="2497568" y="0"/>
                </a:lnTo>
                <a:lnTo>
                  <a:pt x="2497568" y="1988630"/>
                </a:lnTo>
                <a:lnTo>
                  <a:pt x="0" y="1988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02315" y="4658650"/>
            <a:ext cx="2091161" cy="1982246"/>
          </a:xfrm>
          <a:custGeom>
            <a:avLst/>
            <a:gdLst/>
            <a:ahLst/>
            <a:cxnLst/>
            <a:rect r="r" b="b" t="t" l="l"/>
            <a:pathLst>
              <a:path h="1982246" w="2091161">
                <a:moveTo>
                  <a:pt x="0" y="0"/>
                </a:moveTo>
                <a:lnTo>
                  <a:pt x="2091161" y="0"/>
                </a:lnTo>
                <a:lnTo>
                  <a:pt x="2091161" y="1982246"/>
                </a:lnTo>
                <a:lnTo>
                  <a:pt x="0" y="1982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893476" y="4658650"/>
            <a:ext cx="1963276" cy="1988630"/>
          </a:xfrm>
          <a:custGeom>
            <a:avLst/>
            <a:gdLst/>
            <a:ahLst/>
            <a:cxnLst/>
            <a:rect r="r" b="b" t="t" l="l"/>
            <a:pathLst>
              <a:path h="1988630" w="1963276">
                <a:moveTo>
                  <a:pt x="0" y="0"/>
                </a:moveTo>
                <a:lnTo>
                  <a:pt x="1963276" y="0"/>
                </a:lnTo>
                <a:lnTo>
                  <a:pt x="1963276" y="1988630"/>
                </a:lnTo>
                <a:lnTo>
                  <a:pt x="0" y="1988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08" t="0" r="-1908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04747" y="2549229"/>
            <a:ext cx="5716122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Zero prior 3D knowledge required</a:t>
            </a:r>
          </a:p>
          <a:p>
            <a:pPr algn="l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Intuitive drag, scale &amp; rotate controls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5432" y="5181243"/>
            <a:ext cx="6103868" cy="182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Continuous state synchronization with onObjectChange</a:t>
            </a:r>
          </a:p>
          <a:p>
            <a:pPr algn="l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Smooth, responsive TransformControls</a:t>
            </a:r>
          </a:p>
          <a:p>
            <a:pPr algn="l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 snapping or interaction glitches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873" y="8500144"/>
            <a:ext cx="6103868" cy="135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Simple sliders for PBR properties</a:t>
            </a:r>
          </a:p>
          <a:p>
            <a:pPr algn="l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Create shiny metal, glass &amp; frosted </a:t>
            </a:r>
          </a:p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materials with ease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5583" y="1907242"/>
            <a:ext cx="571612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Effortless Interaction: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01705" y="4483279"/>
            <a:ext cx="571612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Smooth Transformations: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8620" y="7801153"/>
            <a:ext cx="571612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Minimalist Controls: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8620" y="394949"/>
            <a:ext cx="12027822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INTERFACE &amp; EXPERIENCE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717443" y="7565541"/>
            <a:ext cx="7500384" cy="2390570"/>
          </a:xfrm>
          <a:custGeom>
            <a:avLst/>
            <a:gdLst/>
            <a:ahLst/>
            <a:cxnLst/>
            <a:rect r="r" b="b" t="t" l="l"/>
            <a:pathLst>
              <a:path h="2390570" w="7500384">
                <a:moveTo>
                  <a:pt x="0" y="0"/>
                </a:moveTo>
                <a:lnTo>
                  <a:pt x="7500384" y="0"/>
                </a:lnTo>
                <a:lnTo>
                  <a:pt x="7500384" y="2390570"/>
                </a:lnTo>
                <a:lnTo>
                  <a:pt x="0" y="23905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3183" r="0" b="-11318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4055" y="-1450546"/>
            <a:ext cx="21789375" cy="12256523"/>
          </a:xfrm>
          <a:custGeom>
            <a:avLst/>
            <a:gdLst/>
            <a:ahLst/>
            <a:cxnLst/>
            <a:rect r="r" b="b" t="t" l="l"/>
            <a:pathLst>
              <a:path h="12256523" w="21789375">
                <a:moveTo>
                  <a:pt x="0" y="0"/>
                </a:moveTo>
                <a:lnTo>
                  <a:pt x="21789375" y="0"/>
                </a:lnTo>
                <a:lnTo>
                  <a:pt x="21789375" y="12256524"/>
                </a:lnTo>
                <a:lnTo>
                  <a:pt x="0" y="1225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9124950" y="1897380"/>
            <a:ext cx="19050" cy="604247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384342" y="8353973"/>
            <a:ext cx="9519315" cy="707794"/>
            <a:chOff x="0" y="0"/>
            <a:chExt cx="2507145" cy="1864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7145" cy="186415"/>
            </a:xfrm>
            <a:custGeom>
              <a:avLst/>
              <a:gdLst/>
              <a:ahLst/>
              <a:cxnLst/>
              <a:rect r="r" b="b" t="t" l="l"/>
              <a:pathLst>
                <a:path h="186415" w="2507145">
                  <a:moveTo>
                    <a:pt x="81329" y="0"/>
                  </a:moveTo>
                  <a:lnTo>
                    <a:pt x="2425816" y="0"/>
                  </a:lnTo>
                  <a:cubicBezTo>
                    <a:pt x="2447386" y="0"/>
                    <a:pt x="2468072" y="8569"/>
                    <a:pt x="2483324" y="23821"/>
                  </a:cubicBezTo>
                  <a:cubicBezTo>
                    <a:pt x="2498576" y="39073"/>
                    <a:pt x="2507145" y="59759"/>
                    <a:pt x="2507145" y="81329"/>
                  </a:cubicBezTo>
                  <a:lnTo>
                    <a:pt x="2507145" y="105086"/>
                  </a:lnTo>
                  <a:cubicBezTo>
                    <a:pt x="2507145" y="126656"/>
                    <a:pt x="2498576" y="147342"/>
                    <a:pt x="2483324" y="162594"/>
                  </a:cubicBezTo>
                  <a:cubicBezTo>
                    <a:pt x="2468072" y="177846"/>
                    <a:pt x="2447386" y="186415"/>
                    <a:pt x="2425816" y="186415"/>
                  </a:cubicBezTo>
                  <a:lnTo>
                    <a:pt x="81329" y="186415"/>
                  </a:lnTo>
                  <a:cubicBezTo>
                    <a:pt x="59759" y="186415"/>
                    <a:pt x="39073" y="177846"/>
                    <a:pt x="23821" y="162594"/>
                  </a:cubicBezTo>
                  <a:cubicBezTo>
                    <a:pt x="8569" y="147342"/>
                    <a:pt x="0" y="126656"/>
                    <a:pt x="0" y="105086"/>
                  </a:cubicBezTo>
                  <a:lnTo>
                    <a:pt x="0" y="81329"/>
                  </a:lnTo>
                  <a:cubicBezTo>
                    <a:pt x="0" y="59759"/>
                    <a:pt x="8569" y="39073"/>
                    <a:pt x="23821" y="23821"/>
                  </a:cubicBezTo>
                  <a:cubicBezTo>
                    <a:pt x="39073" y="8569"/>
                    <a:pt x="59759" y="0"/>
                    <a:pt x="81329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507145" cy="281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98620" y="394949"/>
            <a:ext cx="14687610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FEATURE DEVELOPMENT ROADMAP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620" y="2044256"/>
            <a:ext cx="5331163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Currently Developing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87955" y="2044256"/>
            <a:ext cx="6152568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Next Development Goals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8620" y="2950410"/>
            <a:ext cx="6692190" cy="518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4616"/>
              </a:lnSpc>
              <a:buFont typeface="Arial"/>
              <a:buChar char="•"/>
            </a:pP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PBR Mat</a:t>
            </a: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erial System — Real-time metalness, roughness, clearcoat &amp; transmission</a:t>
            </a:r>
          </a:p>
          <a:p>
            <a:pPr algn="l" marL="582927" indent="-291463" lvl="1">
              <a:lnSpc>
                <a:spcPts val="4616"/>
              </a:lnSpc>
              <a:buFont typeface="Arial"/>
              <a:buChar char="•"/>
            </a:pP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Dyn</a:t>
            </a: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amic Studio Lighting — Key, Edge &amp; Fill with procedural backgrounds</a:t>
            </a:r>
          </a:p>
          <a:p>
            <a:pPr algn="l" marL="582927" indent="-291463" lvl="1">
              <a:lnSpc>
                <a:spcPts val="4616"/>
              </a:lnSpc>
              <a:buFont typeface="Arial"/>
              <a:buChar char="•"/>
            </a:pP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Smooth Transformations — Real-time, responsive mesh interaction</a:t>
            </a:r>
          </a:p>
          <a:p>
            <a:pPr algn="l">
              <a:lnSpc>
                <a:spcPts val="461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687955" y="2950410"/>
            <a:ext cx="6692190" cy="402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4616"/>
              </a:lnSpc>
              <a:buFont typeface="Arial"/>
              <a:buChar char="•"/>
            </a:pP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CSG </a:t>
            </a: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Bool</a:t>
            </a: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eans — Real-time cut &amp; combine operations</a:t>
            </a:r>
          </a:p>
          <a:p>
            <a:pPr algn="l" marL="582927" indent="-291463" lvl="1">
              <a:lnSpc>
                <a:spcPts val="4616"/>
              </a:lnSpc>
              <a:buFont typeface="Arial"/>
              <a:buChar char="•"/>
            </a:pP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Edge Filleting — Client-side geometry refinement</a:t>
            </a:r>
          </a:p>
          <a:p>
            <a:pPr algn="l" marL="582927" indent="-291463" lvl="1">
              <a:lnSpc>
                <a:spcPts val="4616"/>
              </a:lnSpc>
              <a:buFont typeface="Arial"/>
              <a:buChar char="•"/>
            </a:pPr>
            <a:r>
              <a:rPr lang="en-US" sz="2699" spc="1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GLTF / OBJ Export — For 3D printing &amp; external workflows</a:t>
            </a:r>
          </a:p>
          <a:p>
            <a:pPr algn="l">
              <a:lnSpc>
                <a:spcPts val="461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522445" y="8509582"/>
            <a:ext cx="908024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Goal: Continuously improve performance, stability &amp; visual fidelity.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3663" y="4978525"/>
            <a:ext cx="12683542" cy="5683915"/>
          </a:xfrm>
          <a:custGeom>
            <a:avLst/>
            <a:gdLst/>
            <a:ahLst/>
            <a:cxnLst/>
            <a:rect r="r" b="b" t="t" l="l"/>
            <a:pathLst>
              <a:path h="5683915" w="12683542">
                <a:moveTo>
                  <a:pt x="0" y="0"/>
                </a:moveTo>
                <a:lnTo>
                  <a:pt x="12683542" y="0"/>
                </a:lnTo>
                <a:lnTo>
                  <a:pt x="12683542" y="5683915"/>
                </a:lnTo>
                <a:lnTo>
                  <a:pt x="0" y="568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-100314" r="-68340" b="-1098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43250" y="4757300"/>
            <a:ext cx="10699718" cy="5670453"/>
          </a:xfrm>
          <a:custGeom>
            <a:avLst/>
            <a:gdLst/>
            <a:ahLst/>
            <a:cxnLst/>
            <a:rect r="r" b="b" t="t" l="l"/>
            <a:pathLst>
              <a:path h="5670453" w="10699718">
                <a:moveTo>
                  <a:pt x="0" y="0"/>
                </a:moveTo>
                <a:lnTo>
                  <a:pt x="10699718" y="0"/>
                </a:lnTo>
                <a:lnTo>
                  <a:pt x="10699718" y="5670453"/>
                </a:lnTo>
                <a:lnTo>
                  <a:pt x="0" y="5670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-45557" t="-5449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603" y="2466845"/>
            <a:ext cx="14872545" cy="4358684"/>
          </a:xfrm>
          <a:custGeom>
            <a:avLst/>
            <a:gdLst/>
            <a:ahLst/>
            <a:cxnLst/>
            <a:rect r="r" b="b" t="t" l="l"/>
            <a:pathLst>
              <a:path h="4358684" w="14872545">
                <a:moveTo>
                  <a:pt x="0" y="0"/>
                </a:moveTo>
                <a:lnTo>
                  <a:pt x="14872544" y="0"/>
                </a:lnTo>
                <a:lnTo>
                  <a:pt x="14872544" y="4358685"/>
                </a:lnTo>
                <a:lnTo>
                  <a:pt x="0" y="4358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833" r="0" b="-683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07728" y="6683352"/>
            <a:ext cx="14872545" cy="3086100"/>
            <a:chOff x="0" y="0"/>
            <a:chExt cx="391704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17049" cy="812800"/>
            </a:xfrm>
            <a:custGeom>
              <a:avLst/>
              <a:gdLst/>
              <a:ahLst/>
              <a:cxnLst/>
              <a:rect r="r" b="b" t="t" l="l"/>
              <a:pathLst>
                <a:path h="812800" w="3917049">
                  <a:moveTo>
                    <a:pt x="26548" y="0"/>
                  </a:moveTo>
                  <a:lnTo>
                    <a:pt x="3890501" y="0"/>
                  </a:lnTo>
                  <a:cubicBezTo>
                    <a:pt x="3897542" y="0"/>
                    <a:pt x="3904294" y="2797"/>
                    <a:pt x="3909273" y="7776"/>
                  </a:cubicBezTo>
                  <a:cubicBezTo>
                    <a:pt x="3914252" y="12754"/>
                    <a:pt x="3917049" y="19507"/>
                    <a:pt x="3917049" y="26548"/>
                  </a:cubicBezTo>
                  <a:lnTo>
                    <a:pt x="3917049" y="786252"/>
                  </a:lnTo>
                  <a:cubicBezTo>
                    <a:pt x="3917049" y="793293"/>
                    <a:pt x="3914252" y="800045"/>
                    <a:pt x="3909273" y="805024"/>
                  </a:cubicBezTo>
                  <a:cubicBezTo>
                    <a:pt x="3904294" y="810003"/>
                    <a:pt x="3897542" y="812800"/>
                    <a:pt x="3890501" y="812800"/>
                  </a:cubicBezTo>
                  <a:lnTo>
                    <a:pt x="26548" y="812800"/>
                  </a:lnTo>
                  <a:cubicBezTo>
                    <a:pt x="19507" y="812800"/>
                    <a:pt x="12754" y="810003"/>
                    <a:pt x="7776" y="805024"/>
                  </a:cubicBezTo>
                  <a:cubicBezTo>
                    <a:pt x="2797" y="800045"/>
                    <a:pt x="0" y="793293"/>
                    <a:pt x="0" y="786252"/>
                  </a:cubicBezTo>
                  <a:lnTo>
                    <a:pt x="0" y="26548"/>
                  </a:lnTo>
                  <a:cubicBezTo>
                    <a:pt x="0" y="19507"/>
                    <a:pt x="2797" y="12754"/>
                    <a:pt x="7776" y="7776"/>
                  </a:cubicBezTo>
                  <a:cubicBezTo>
                    <a:pt x="12754" y="2797"/>
                    <a:pt x="19507" y="0"/>
                    <a:pt x="26548" y="0"/>
                  </a:cubicBezTo>
                  <a:close/>
                </a:path>
              </a:pathLst>
            </a:custGeom>
            <a:solidFill>
              <a:srgbClr val="F9DE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3917049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8620" y="394949"/>
            <a:ext cx="12027822" cy="169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PROJECT ARCHITECTURE: FROM UI TO GPU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71219" y="6777905"/>
            <a:ext cx="10355223" cy="274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  <a:spcBef>
                <a:spcPct val="0"/>
              </a:spcBef>
            </a:pPr>
            <a:r>
              <a:rPr lang="en-US" b="true" sz="3122" spc="17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ENGINEERING CHALLENGE</a:t>
            </a:r>
          </a:p>
          <a:p>
            <a:pPr algn="l" marL="523036" indent="-261518" lvl="1">
              <a:lnSpc>
                <a:spcPts val="4142"/>
              </a:lnSpc>
              <a:buFont typeface="Arial"/>
              <a:buChar char="•"/>
            </a:pPr>
            <a:r>
              <a:rPr lang="en-US" sz="2422" spc="13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React’s declarative UI ↔ Three.js’s imperative render loop</a:t>
            </a:r>
          </a:p>
          <a:p>
            <a:pPr algn="l" marL="523036" indent="-261518" lvl="1">
              <a:lnSpc>
                <a:spcPts val="4142"/>
              </a:lnSpc>
              <a:buFont typeface="Arial"/>
              <a:buChar char="•"/>
            </a:pPr>
            <a:r>
              <a:rPr lang="en-US" sz="2422" spc="13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Continuous synchronization between UI state &amp; GPU transforms</a:t>
            </a:r>
          </a:p>
          <a:p>
            <a:pPr algn="l" marL="523036" indent="-261518" lvl="1">
              <a:lnSpc>
                <a:spcPts val="4142"/>
              </a:lnSpc>
              <a:buFont typeface="Arial"/>
              <a:buChar char="•"/>
            </a:pPr>
            <a:r>
              <a:rPr lang="en-US" sz="2422" spc="13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Optimized to maintain smooth real-time rendering</a:t>
            </a:r>
          </a:p>
          <a:p>
            <a:pPr algn="l" marL="523036" indent="-261518" lvl="1">
              <a:lnSpc>
                <a:spcPts val="4142"/>
              </a:lnSpc>
              <a:buFont typeface="Arial"/>
              <a:buChar char="•"/>
            </a:pPr>
            <a:r>
              <a:rPr lang="en-US" sz="2422" spc="13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Minimizes unnecessary React re-renders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4055" y="-1450546"/>
            <a:ext cx="21789375" cy="12256523"/>
          </a:xfrm>
          <a:custGeom>
            <a:avLst/>
            <a:gdLst/>
            <a:ahLst/>
            <a:cxnLst/>
            <a:rect r="r" b="b" t="t" l="l"/>
            <a:pathLst>
              <a:path h="12256523" w="21789375">
                <a:moveTo>
                  <a:pt x="0" y="0"/>
                </a:moveTo>
                <a:lnTo>
                  <a:pt x="21789375" y="0"/>
                </a:lnTo>
                <a:lnTo>
                  <a:pt x="21789375" y="12256524"/>
                </a:lnTo>
                <a:lnTo>
                  <a:pt x="0" y="1225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8620" y="394949"/>
            <a:ext cx="17115482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METHODOLOGY: AGILE DEVELOPMENT</a:t>
            </a:r>
          </a:p>
        </p:txBody>
      </p:sp>
      <p:sp>
        <p:nvSpPr>
          <p:cNvPr name="AutoShape 4" id="4"/>
          <p:cNvSpPr/>
          <p:nvPr/>
        </p:nvSpPr>
        <p:spPr>
          <a:xfrm flipH="true" flipV="true">
            <a:off x="9056361" y="1897380"/>
            <a:ext cx="19050" cy="604247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47299" y="2307877"/>
            <a:ext cx="6556177" cy="169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  <a:spcBef>
                <a:spcPct val="0"/>
              </a:spcBef>
            </a:pPr>
            <a:r>
              <a:rPr lang="en-US" b="true" sz="3122" spc="17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PHASE 1 — FOUNDATION</a:t>
            </a:r>
          </a:p>
          <a:p>
            <a:pPr algn="l">
              <a:lnSpc>
                <a:spcPts val="4142"/>
              </a:lnSpc>
              <a:spcBef>
                <a:spcPct val="0"/>
              </a:spcBef>
            </a:pPr>
            <a:r>
              <a:rPr lang="en-US" sz="2422" spc="13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WebGL + React Integration</a:t>
            </a:r>
          </a:p>
          <a:p>
            <a:pPr algn="l">
              <a:lnSpc>
                <a:spcPts val="4142"/>
              </a:lnSpc>
              <a:spcBef>
                <a:spcPct val="0"/>
              </a:spcBef>
            </a:pPr>
            <a:r>
              <a:rPr lang="en-US" sz="2422" spc="13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Set up the core 3D rendering environment.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7299" y="4991100"/>
            <a:ext cx="6953726" cy="167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  <a:spcBef>
                <a:spcPct val="0"/>
              </a:spcBef>
            </a:pPr>
            <a:r>
              <a:rPr lang="en-US" b="true" sz="3122" spc="17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PHASE 3 — CURRENT</a:t>
            </a:r>
          </a:p>
          <a:p>
            <a:pPr algn="l">
              <a:lnSpc>
                <a:spcPts val="4104"/>
              </a:lnSpc>
              <a:spcBef>
                <a:spcPct val="0"/>
              </a:spcBef>
            </a:pPr>
            <a:r>
              <a:rPr lang="en-US" sz="2400" spc="132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PBR + Lighting + Deployment</a:t>
            </a:r>
          </a:p>
          <a:p>
            <a:pPr algn="l">
              <a:lnSpc>
                <a:spcPts val="4104"/>
              </a:lnSpc>
              <a:spcBef>
                <a:spcPct val="0"/>
              </a:spcBef>
            </a:pPr>
            <a:r>
              <a:rPr lang="en-US" sz="2400" spc="132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Refining rendering, lighting, and Vercel CI/CD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71771" y="4991100"/>
            <a:ext cx="8508473" cy="219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  <a:spcBef>
                <a:spcPct val="0"/>
              </a:spcBef>
            </a:pPr>
            <a:r>
              <a:rPr lang="en-US" b="true" sz="3122" spc="17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PHASE 4 — NEXT</a:t>
            </a:r>
          </a:p>
          <a:p>
            <a:pPr algn="l">
              <a:lnSpc>
                <a:spcPts val="4104"/>
              </a:lnSpc>
              <a:spcBef>
                <a:spcPct val="0"/>
              </a:spcBef>
            </a:pPr>
            <a:r>
              <a:rPr lang="en-US" sz="2400" spc="132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CSG + File I/O</a:t>
            </a:r>
          </a:p>
          <a:p>
            <a:pPr algn="l">
              <a:lnSpc>
                <a:spcPts val="4104"/>
              </a:lnSpc>
              <a:spcBef>
                <a:spcPct val="0"/>
              </a:spcBef>
            </a:pPr>
            <a:r>
              <a:rPr lang="en-US" sz="2400" spc="132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Developing advanced geometry operations and GLTF/OBJ export.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71771" y="2307877"/>
            <a:ext cx="7941945" cy="167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  <a:spcBef>
                <a:spcPct val="0"/>
              </a:spcBef>
            </a:pPr>
            <a:r>
              <a:rPr lang="en-US" b="true" sz="3122" spc="17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PHASE 2 — STATE SYNC</a:t>
            </a:r>
          </a:p>
          <a:p>
            <a:pPr algn="l">
              <a:lnSpc>
                <a:spcPts val="4104"/>
              </a:lnSpc>
              <a:spcBef>
                <a:spcPct val="0"/>
              </a:spcBef>
            </a:pPr>
            <a:r>
              <a:rPr lang="en-US" sz="2400" spc="132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React + Three.js + Zustand</a:t>
            </a:r>
          </a:p>
          <a:p>
            <a:pPr algn="l">
              <a:lnSpc>
                <a:spcPts val="4104"/>
              </a:lnSpc>
              <a:spcBef>
                <a:spcPct val="0"/>
              </a:spcBef>
            </a:pPr>
            <a:r>
              <a:rPr lang="en-US" sz="2400" spc="132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Established reliable real-time state synchronization.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4055" y="-1450546"/>
            <a:ext cx="21789375" cy="12256523"/>
          </a:xfrm>
          <a:custGeom>
            <a:avLst/>
            <a:gdLst/>
            <a:ahLst/>
            <a:cxnLst/>
            <a:rect r="r" b="b" t="t" l="l"/>
            <a:pathLst>
              <a:path h="12256523" w="21789375">
                <a:moveTo>
                  <a:pt x="0" y="0"/>
                </a:moveTo>
                <a:lnTo>
                  <a:pt x="21789375" y="0"/>
                </a:lnTo>
                <a:lnTo>
                  <a:pt x="21789375" y="12256524"/>
                </a:lnTo>
                <a:lnTo>
                  <a:pt x="0" y="1225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89645" y="915374"/>
            <a:ext cx="14133431" cy="9422288"/>
          </a:xfrm>
          <a:custGeom>
            <a:avLst/>
            <a:gdLst/>
            <a:ahLst/>
            <a:cxnLst/>
            <a:rect r="r" b="b" t="t" l="l"/>
            <a:pathLst>
              <a:path h="9422288" w="14133431">
                <a:moveTo>
                  <a:pt x="0" y="0"/>
                </a:moveTo>
                <a:lnTo>
                  <a:pt x="14133431" y="0"/>
                </a:lnTo>
                <a:lnTo>
                  <a:pt x="14133431" y="9422288"/>
                </a:lnTo>
                <a:lnTo>
                  <a:pt x="0" y="9422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8620" y="394949"/>
            <a:ext cx="17115482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COSTS &amp; SUSTAINABILITY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68027" y="-1658654"/>
            <a:ext cx="6605601" cy="5960307"/>
          </a:xfrm>
          <a:custGeom>
            <a:avLst/>
            <a:gdLst/>
            <a:ahLst/>
            <a:cxnLst/>
            <a:rect r="r" b="b" t="t" l="l"/>
            <a:pathLst>
              <a:path h="5960307" w="6605601">
                <a:moveTo>
                  <a:pt x="0" y="0"/>
                </a:moveTo>
                <a:lnTo>
                  <a:pt x="6605601" y="0"/>
                </a:lnTo>
                <a:lnTo>
                  <a:pt x="6605601" y="5960307"/>
                </a:lnTo>
                <a:lnTo>
                  <a:pt x="0" y="5960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-231025" t="0" r="0" b="-10636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0735" y="2399998"/>
            <a:ext cx="5421122" cy="6155111"/>
          </a:xfrm>
          <a:custGeom>
            <a:avLst/>
            <a:gdLst/>
            <a:ahLst/>
            <a:cxnLst/>
            <a:rect r="r" b="b" t="t" l="l"/>
            <a:pathLst>
              <a:path h="6155111" w="5421122">
                <a:moveTo>
                  <a:pt x="0" y="0"/>
                </a:moveTo>
                <a:lnTo>
                  <a:pt x="5421122" y="0"/>
                </a:lnTo>
                <a:lnTo>
                  <a:pt x="5421122" y="6155111"/>
                </a:lnTo>
                <a:lnTo>
                  <a:pt x="0" y="6155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-303352" t="0" r="0" b="-998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10561" y="5508758"/>
            <a:ext cx="5421122" cy="6155111"/>
          </a:xfrm>
          <a:custGeom>
            <a:avLst/>
            <a:gdLst/>
            <a:ahLst/>
            <a:cxnLst/>
            <a:rect r="r" b="b" t="t" l="l"/>
            <a:pathLst>
              <a:path h="6155111" w="5421122">
                <a:moveTo>
                  <a:pt x="0" y="0"/>
                </a:moveTo>
                <a:lnTo>
                  <a:pt x="5421122" y="0"/>
                </a:lnTo>
                <a:lnTo>
                  <a:pt x="5421122" y="6155111"/>
                </a:lnTo>
                <a:lnTo>
                  <a:pt x="0" y="6155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-303352" t="0" r="0" b="-9982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9348" y="730516"/>
            <a:ext cx="16989305" cy="9556484"/>
          </a:xfrm>
          <a:custGeom>
            <a:avLst/>
            <a:gdLst/>
            <a:ahLst/>
            <a:cxnLst/>
            <a:rect r="r" b="b" t="t" l="l"/>
            <a:pathLst>
              <a:path h="9556484" w="16989305">
                <a:moveTo>
                  <a:pt x="0" y="0"/>
                </a:moveTo>
                <a:lnTo>
                  <a:pt x="16989304" y="0"/>
                </a:lnTo>
                <a:lnTo>
                  <a:pt x="16989304" y="9556484"/>
                </a:lnTo>
                <a:lnTo>
                  <a:pt x="0" y="9556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8620" y="394949"/>
            <a:ext cx="17115482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RESPONSIBILITY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4055" y="5631125"/>
            <a:ext cx="21789375" cy="5174853"/>
          </a:xfrm>
          <a:custGeom>
            <a:avLst/>
            <a:gdLst/>
            <a:ahLst/>
            <a:cxnLst/>
            <a:rect r="r" b="b" t="t" l="l"/>
            <a:pathLst>
              <a:path h="5174853" w="21789375">
                <a:moveTo>
                  <a:pt x="0" y="0"/>
                </a:moveTo>
                <a:lnTo>
                  <a:pt x="21789375" y="0"/>
                </a:lnTo>
                <a:lnTo>
                  <a:pt x="21789375" y="5174853"/>
                </a:lnTo>
                <a:lnTo>
                  <a:pt x="0" y="517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-13684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3831" y="1321499"/>
            <a:ext cx="16125060" cy="8619251"/>
          </a:xfrm>
          <a:custGeom>
            <a:avLst/>
            <a:gdLst/>
            <a:ahLst/>
            <a:cxnLst/>
            <a:rect r="r" b="b" t="t" l="l"/>
            <a:pathLst>
              <a:path h="8619251" w="16125060">
                <a:moveTo>
                  <a:pt x="0" y="0"/>
                </a:moveTo>
                <a:lnTo>
                  <a:pt x="16125060" y="0"/>
                </a:lnTo>
                <a:lnTo>
                  <a:pt x="16125060" y="8619251"/>
                </a:lnTo>
                <a:lnTo>
                  <a:pt x="0" y="8619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33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8620" y="394949"/>
            <a:ext cx="17115482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LITERATURE REVIEW &amp; RESEARCH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4055" y="-1450546"/>
            <a:ext cx="21789375" cy="12256523"/>
          </a:xfrm>
          <a:custGeom>
            <a:avLst/>
            <a:gdLst/>
            <a:ahLst/>
            <a:cxnLst/>
            <a:rect r="r" b="b" t="t" l="l"/>
            <a:pathLst>
              <a:path h="12256523" w="21789375">
                <a:moveTo>
                  <a:pt x="0" y="0"/>
                </a:moveTo>
                <a:lnTo>
                  <a:pt x="21789375" y="0"/>
                </a:lnTo>
                <a:lnTo>
                  <a:pt x="21789375" y="12256524"/>
                </a:lnTo>
                <a:lnTo>
                  <a:pt x="0" y="1225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793183"/>
            <a:ext cx="15377550" cy="6105837"/>
            <a:chOff x="0" y="0"/>
            <a:chExt cx="4050054" cy="16081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50054" cy="1608122"/>
            </a:xfrm>
            <a:custGeom>
              <a:avLst/>
              <a:gdLst/>
              <a:ahLst/>
              <a:cxnLst/>
              <a:rect r="r" b="b" t="t" l="l"/>
              <a:pathLst>
                <a:path h="1608122" w="4050054">
                  <a:moveTo>
                    <a:pt x="25676" y="0"/>
                  </a:moveTo>
                  <a:lnTo>
                    <a:pt x="4024378" y="0"/>
                  </a:lnTo>
                  <a:cubicBezTo>
                    <a:pt x="4038559" y="0"/>
                    <a:pt x="4050054" y="11496"/>
                    <a:pt x="4050054" y="25676"/>
                  </a:cubicBezTo>
                  <a:lnTo>
                    <a:pt x="4050054" y="1582446"/>
                  </a:lnTo>
                  <a:cubicBezTo>
                    <a:pt x="4050054" y="1589255"/>
                    <a:pt x="4047349" y="1595786"/>
                    <a:pt x="4042534" y="1600601"/>
                  </a:cubicBezTo>
                  <a:cubicBezTo>
                    <a:pt x="4037719" y="1605417"/>
                    <a:pt x="4031188" y="1608122"/>
                    <a:pt x="4024378" y="1608122"/>
                  </a:cubicBezTo>
                  <a:lnTo>
                    <a:pt x="25676" y="1608122"/>
                  </a:lnTo>
                  <a:cubicBezTo>
                    <a:pt x="11496" y="1608122"/>
                    <a:pt x="0" y="1596626"/>
                    <a:pt x="0" y="1582446"/>
                  </a:cubicBezTo>
                  <a:lnTo>
                    <a:pt x="0" y="25676"/>
                  </a:lnTo>
                  <a:cubicBezTo>
                    <a:pt x="0" y="11496"/>
                    <a:pt x="11496" y="0"/>
                    <a:pt x="25676" y="0"/>
                  </a:cubicBezTo>
                  <a:close/>
                </a:path>
              </a:pathLst>
            </a:custGeom>
            <a:solidFill>
              <a:srgbClr val="F9DC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4050054" cy="1703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8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620" y="394949"/>
            <a:ext cx="17115482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WHAT COMES NEXT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00992" y="8584820"/>
            <a:ext cx="17115482" cy="9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2"/>
              </a:lnSpc>
            </a:pPr>
            <a:r>
              <a:rPr lang="en-US" sz="5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6992" y="2321180"/>
            <a:ext cx="14559082" cy="82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84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Simple 3D shows that ease of use and visual quality can coexist combining high-end PBR rendering with a smooth, intuitive browser experience.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1819" y="3833281"/>
            <a:ext cx="14754255" cy="327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380"/>
              </a:lnSpc>
              <a:buFont typeface="Arial"/>
              <a:buChar char="•"/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What’s Next</a:t>
            </a:r>
          </a:p>
          <a:p>
            <a:pPr algn="l" marL="518160" indent="-259080" lvl="1">
              <a:lnSpc>
                <a:spcPts val="3504"/>
              </a:lnSpc>
              <a:buFont typeface="Arial"/>
              <a:buChar char="•"/>
            </a:pPr>
            <a:r>
              <a:rPr lang="en-US" sz="24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Smart Dimensions — Precise measurements &amp; modeling</a:t>
            </a:r>
          </a:p>
          <a:p>
            <a:pPr algn="l" marL="518160" indent="-259080" lvl="1">
              <a:lnSpc>
                <a:spcPts val="3504"/>
              </a:lnSpc>
              <a:buFont typeface="Arial"/>
              <a:buChar char="•"/>
            </a:pPr>
            <a:r>
              <a:rPr lang="en-US" sz="24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CSG Booleans — Stable cut &amp; combine operations</a:t>
            </a:r>
          </a:p>
          <a:p>
            <a:pPr algn="l" marL="518160" indent="-259080" lvl="1">
              <a:lnSpc>
                <a:spcPts val="3504"/>
              </a:lnSpc>
              <a:buFont typeface="Arial"/>
              <a:buChar char="•"/>
            </a:pPr>
            <a:r>
              <a:rPr lang="en-US" sz="24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Edge Filleting — Smoother, refined geometry</a:t>
            </a:r>
          </a:p>
          <a:p>
            <a:pPr algn="l" marL="518160" indent="-259080" lvl="1">
              <a:lnSpc>
                <a:spcPts val="3504"/>
              </a:lnSpc>
              <a:buFont typeface="Arial"/>
              <a:buChar char="•"/>
            </a:pPr>
            <a:r>
              <a:rPr lang="en-US" sz="24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File Export — GLTF / OBJ workflows</a:t>
            </a:r>
          </a:p>
          <a:p>
            <a:pPr algn="l" marL="647700" indent="-323850" lvl="1">
              <a:lnSpc>
                <a:spcPts val="4380"/>
              </a:lnSpc>
              <a:buFont typeface="Arial"/>
              <a:buChar char="•"/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Final Thought</a:t>
            </a:r>
          </a:p>
          <a:p>
            <a:pPr algn="l" marL="518160" indent="-259080" lvl="1">
              <a:lnSpc>
                <a:spcPts val="3504"/>
              </a:lnSpc>
              <a:buFont typeface="Arial"/>
              <a:buChar char="•"/>
            </a:pPr>
            <a:r>
              <a:rPr lang="en-US" sz="24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Democratizing high-quality 3D for the next generation of designers, hobbyists &amp;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DAHV2W5Q8zM</dc:identifier>
  <dcterms:modified xsi:type="dcterms:W3CDTF">2011-08-01T06:04:30Z</dcterms:modified>
  <cp:revision>1</cp:revision>
  <dc:title>SIMPLE 3D · MID-SEMESTER PROJECT PITCH</dc:title>
</cp:coreProperties>
</file>